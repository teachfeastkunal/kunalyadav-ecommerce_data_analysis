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530" r:id="rId5"/>
    <p:sldId id="531" r:id="rId6"/>
    <p:sldId id="533" r:id="rId7"/>
    <p:sldId id="534" r:id="rId8"/>
    <p:sldId id="552" r:id="rId9"/>
    <p:sldId id="556" r:id="rId10"/>
    <p:sldId id="553" r:id="rId11"/>
    <p:sldId id="554" r:id="rId12"/>
    <p:sldId id="555" r:id="rId13"/>
    <p:sldId id="535" r:id="rId14"/>
    <p:sldId id="536" r:id="rId15"/>
    <p:sldId id="547" r:id="rId16"/>
    <p:sldId id="537" r:id="rId17"/>
    <p:sldId id="548" r:id="rId18"/>
    <p:sldId id="549" r:id="rId19"/>
    <p:sldId id="550" r:id="rId20"/>
    <p:sldId id="546" r:id="rId21"/>
    <p:sldId id="551" r:id="rId22"/>
    <p:sldId id="538" r:id="rId23"/>
    <p:sldId id="539" r:id="rId24"/>
    <p:sldId id="543" r:id="rId25"/>
    <p:sldId id="54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422"/>
  </p:normalViewPr>
  <p:slideViewPr>
    <p:cSldViewPr snapToGrid="0">
      <p:cViewPr varScale="1">
        <p:scale>
          <a:sx n="75" d="100"/>
          <a:sy n="75" d="100"/>
        </p:scale>
        <p:origin x="5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5984" y="1058333"/>
            <a:ext cx="9921240" cy="2709333"/>
          </a:xfrm>
        </p:spPr>
        <p:txBody>
          <a:bodyPr/>
          <a:lstStyle/>
          <a:p>
            <a:r>
              <a:rPr lang="en-GB" dirty="0"/>
              <a:t>E-Commerce Sales Performance Analysis and Visualization using Python and Excel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1844" y="4616703"/>
            <a:ext cx="7068312" cy="758952"/>
          </a:xfrm>
        </p:spPr>
        <p:txBody>
          <a:bodyPr/>
          <a:lstStyle/>
          <a:p>
            <a:r>
              <a:rPr lang="en-US" sz="2000" b="1" dirty="0"/>
              <a:t>Kunal Yadav  -  Roll No  : 202410101150120</a:t>
            </a:r>
          </a:p>
          <a:p>
            <a:r>
              <a:rPr lang="en-US" sz="2000" b="1" dirty="0"/>
              <a:t>Divyansh Srivastava – Roll No  : 202410101150090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8E61E-13C1-C155-6D78-C79C8AE0AD15}"/>
              </a:ext>
            </a:extLst>
          </p:cNvPr>
          <p:cNvSpPr txBox="1"/>
          <p:nvPr/>
        </p:nvSpPr>
        <p:spPr>
          <a:xfrm>
            <a:off x="3183467" y="5672667"/>
            <a:ext cx="5858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0" i="0" dirty="0">
                <a:solidFill>
                  <a:schemeClr val="bg1"/>
                </a:solidFill>
                <a:effectLst/>
                <a:latin typeface="fkGroteskNeue"/>
              </a:rPr>
              <a:t> IBM Faculty Collaboration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260604"/>
            <a:ext cx="8878824" cy="1069848"/>
          </a:xfrm>
        </p:spPr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1749806"/>
            <a:ext cx="6422136" cy="4625594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Dataset Overview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Methodology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Key </a:t>
            </a: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V</a:t>
            </a: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isualizations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Insights &amp; Recommendations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Challenges &amp; Solutions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Conclusions &amp; Next Steps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Summary</a:t>
            </a:r>
            <a:endParaRPr lang="en-US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fkGrotesk"/>
              </a:rPr>
              <a:t>Dataset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GB" b="0" i="0" dirty="0">
                <a:effectLst/>
                <a:latin typeface="fkGroteskNeue"/>
              </a:rPr>
              <a:t>Source : Kaggle E-Commerce Data</a:t>
            </a:r>
          </a:p>
          <a:p>
            <a:pPr algn="l"/>
            <a:r>
              <a:rPr lang="en-GB" b="0" i="0" dirty="0">
                <a:effectLst/>
                <a:latin typeface="fkGroteskNeue"/>
              </a:rPr>
              <a:t>Records : ~500,000 transactions</a:t>
            </a:r>
          </a:p>
          <a:p>
            <a:pPr algn="l"/>
            <a:r>
              <a:rPr lang="en-GB" b="0" i="0" dirty="0">
                <a:effectLst/>
                <a:latin typeface="fkGroteskNeue"/>
              </a:rPr>
              <a:t>Fields : Order, Product, Customer, Country, Amount, Date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5FF0B8-5B51-7376-0271-8D849CA3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219049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Data cleaning/engineering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Exploratory &amp; advanced analytics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Export &amp; dashboard in Excel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2747-86FE-5E70-4183-E43EE549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362204"/>
            <a:ext cx="10881360" cy="1069848"/>
          </a:xfrm>
        </p:spPr>
        <p:txBody>
          <a:bodyPr/>
          <a:lstStyle/>
          <a:p>
            <a:pPr algn="ctr"/>
            <a:r>
              <a:rPr lang="en-US" sz="4400" dirty="0"/>
              <a:t>Reading The file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043879-41DA-0D92-6A73-96F7BFC43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04" y="1648463"/>
            <a:ext cx="3134162" cy="1267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817CF5-B4E6-AFDA-4F9A-CF24900A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9033" y="3392056"/>
            <a:ext cx="4896533" cy="695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1F5FB7-3A01-9E10-7D21-F6639AEDE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230" y="4555657"/>
            <a:ext cx="9059539" cy="15337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016BA1-5A59-0A7D-7A52-3B4B14C4B00A}"/>
              </a:ext>
            </a:extLst>
          </p:cNvPr>
          <p:cNvSpPr txBox="1"/>
          <p:nvPr/>
        </p:nvSpPr>
        <p:spPr>
          <a:xfrm>
            <a:off x="1630172" y="1908643"/>
            <a:ext cx="4660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READ AND LOAD THE EXCEL DATA</a:t>
            </a:r>
          </a:p>
          <a:p>
            <a:pPr algn="ctr"/>
            <a:r>
              <a:rPr lang="en-GB" dirty="0">
                <a:solidFill>
                  <a:schemeClr val="bg1"/>
                </a:solidFill>
              </a:rPr>
              <a:t>INTO IPYNB FILE</a:t>
            </a:r>
          </a:p>
        </p:txBody>
      </p:sp>
    </p:spTree>
    <p:extLst>
      <p:ext uri="{BB962C8B-B14F-4D97-AF65-F5344CB8AC3E}">
        <p14:creationId xmlns:p14="http://schemas.microsoft.com/office/powerpoint/2010/main" val="56318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12747-86FE-5E70-4183-E43EE5497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362204"/>
            <a:ext cx="10881360" cy="1069848"/>
          </a:xfrm>
        </p:spPr>
        <p:txBody>
          <a:bodyPr/>
          <a:lstStyle/>
          <a:p>
            <a:pPr algn="ctr"/>
            <a:r>
              <a:rPr lang="en-US" sz="4400" dirty="0" err="1"/>
              <a:t>Dataframe</a:t>
            </a:r>
            <a:r>
              <a:rPr lang="en-US" sz="4400" dirty="0"/>
              <a:t> structure summary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016BA1-5A59-0A7D-7A52-3B4B14C4B00A}"/>
              </a:ext>
            </a:extLst>
          </p:cNvPr>
          <p:cNvSpPr txBox="1"/>
          <p:nvPr/>
        </p:nvSpPr>
        <p:spPr>
          <a:xfrm>
            <a:off x="1066800" y="2315043"/>
            <a:ext cx="59243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pc="300" dirty="0">
                <a:solidFill>
                  <a:schemeClr val="bg1"/>
                </a:solidFill>
              </a:rPr>
              <a:t>THE DF.INFO() OUTPUT SHOWS THE DATAFRAME’S STRUCTURE: IT HAS 541,909 ROWS AND 8 COLUMNS, LISTING EACH COLUMN’S NAME, NUMBER OF NON-NULL VALUES, AND DATA TYPE. THIS HELPS IDENTIFY COLUMNS WITH MISSING DATA (LIKE ‘DESCRIPTION’ AND ‘CUSTOMERID’), AND GIVES A QUICK OVERVIEW OF MEMORY USAGE AND DATA TYPES FOR FURTHER CLEANING OR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4C29AD-2342-53EC-2A87-187522E76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052" y="1898934"/>
            <a:ext cx="2858488" cy="8322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0C0A34-24CD-51BD-63E4-446535858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592" y="3066643"/>
            <a:ext cx="3813408" cy="33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3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E620-14FD-E704-0177-EB78BFDE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7792"/>
            <a:ext cx="10881360" cy="1069848"/>
          </a:xfrm>
        </p:spPr>
        <p:txBody>
          <a:bodyPr/>
          <a:lstStyle/>
          <a:p>
            <a:pPr algn="ctr"/>
            <a:r>
              <a:rPr lang="en-US" dirty="0"/>
              <a:t>Cleaning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44A93E-60E3-259A-5D6B-293C011DE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05732"/>
            <a:ext cx="6055199" cy="37569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EDE79B-A2A6-6DAB-3BE0-899CDF235B81}"/>
              </a:ext>
            </a:extLst>
          </p:cNvPr>
          <p:cNvSpPr txBox="1"/>
          <p:nvPr/>
        </p:nvSpPr>
        <p:spPr>
          <a:xfrm>
            <a:off x="1028700" y="2120900"/>
            <a:ext cx="4419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THIS CODE CLEANS AND PREPROCESSES A DATASET BY REMOVING DUPLICATE, NULL, AND INVALID ENTRIES, CONVERTING DATA TYPES, AND ENSURING ALL QUANTITIES ARE POSITIVE. IT PREPARES THE DATAFRAME FOR ACCURATE ANALYSIS BY KEEPING ONLY VALID, CONSISTENT RECORDS.</a:t>
            </a:r>
            <a:endParaRPr lang="en-US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142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E620-14FD-E704-0177-EB78BFDE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7792"/>
            <a:ext cx="10881360" cy="1069848"/>
          </a:xfrm>
        </p:spPr>
        <p:txBody>
          <a:bodyPr/>
          <a:lstStyle/>
          <a:p>
            <a:pPr algn="ctr"/>
            <a:r>
              <a:rPr lang="en-US" dirty="0"/>
              <a:t>Adding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DE79B-A2A6-6DAB-3BE0-899CDF235B81}"/>
              </a:ext>
            </a:extLst>
          </p:cNvPr>
          <p:cNvSpPr txBox="1"/>
          <p:nvPr/>
        </p:nvSpPr>
        <p:spPr>
          <a:xfrm>
            <a:off x="1041400" y="2413336"/>
            <a:ext cx="441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This code calculates total sales for each transaction, extracts year and month details from the invoice date, and then filters the dataset to include only records with positive sales values.</a:t>
            </a:r>
            <a:endParaRPr lang="en-US" spc="3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7A954E-C32C-7B12-1F3B-E9D80B687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2141713"/>
            <a:ext cx="5872480" cy="257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18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CE620-14FD-E704-0177-EB78BFDE2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367792"/>
            <a:ext cx="10881360" cy="1069848"/>
          </a:xfrm>
        </p:spPr>
        <p:txBody>
          <a:bodyPr/>
          <a:lstStyle/>
          <a:p>
            <a:pPr algn="ctr"/>
            <a:r>
              <a:rPr lang="en-US" dirty="0"/>
              <a:t>Adding columns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EDE79B-A2A6-6DAB-3BE0-899CDF235B81}"/>
              </a:ext>
            </a:extLst>
          </p:cNvPr>
          <p:cNvSpPr txBox="1"/>
          <p:nvPr/>
        </p:nvSpPr>
        <p:spPr>
          <a:xfrm>
            <a:off x="2463800" y="3642359"/>
            <a:ext cx="72564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THIS CODE SAVES THE CLEANED DATA, MONTHLY SALES SUMMARY, AND TOP SALES RECORDS TO SEPARATE SHEETS IN A SINGLE EXCEL FILE NAMED SUMMARYREPORT.XLSX USING THE OPENPYXL ENGINE. EACH DATAFRAME IS WRITTEN TO ITS RELEVANT SHEET, MAKING IT EASY TO ORGANIZE AND ACCESS THE PROCESSED RESULTS IN ONE REPORT.</a:t>
            </a:r>
            <a:endParaRPr lang="en-US" spc="3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19E89-8A39-8504-5D4C-17CEB661D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122" y="1673352"/>
            <a:ext cx="8555846" cy="13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0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FE8-2F9C-9C12-4EB3-9742EA91D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>
                <a:effectLst/>
                <a:latin typeface="fkGrotesk"/>
              </a:rPr>
              <a:t>Key Visualizations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9E9746-B11F-C28B-3409-D2DD4C710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Monthly Sales Trend (Line)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Top Products (Bar)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Sales Distribution (Histogram)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Correlation Matrix (Heatmap)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effectLst/>
                <a:latin typeface="fkGroteskNeue"/>
              </a:rPr>
              <a:t>Boxplot (spread by product/country)</a:t>
            </a:r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518BC33-C29D-9A47-94BA-8DDABCFA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20" y="358136"/>
            <a:ext cx="11136651" cy="1069848"/>
          </a:xfrm>
        </p:spPr>
        <p:txBody>
          <a:bodyPr/>
          <a:lstStyle/>
          <a:p>
            <a:pPr algn="ctr"/>
            <a:r>
              <a:rPr lang="en-US" sz="3200" i="0" dirty="0">
                <a:effectLst/>
                <a:latin typeface="fkGroteskNeue"/>
              </a:rPr>
              <a:t>Monthly Sales Trend (Line)</a:t>
            </a:r>
            <a:endParaRPr lang="en-US" sz="3200" dirty="0"/>
          </a:p>
        </p:txBody>
      </p:sp>
      <p:pic>
        <p:nvPicPr>
          <p:cNvPr id="12" name="Picture 11" descr="A graph with purple lines and a line&#10;&#10;AI-generated content may be incorrect.">
            <a:extLst>
              <a:ext uri="{FF2B5EF4-FFF2-40B4-BE49-F238E27FC236}">
                <a16:creationId xmlns:a16="http://schemas.microsoft.com/office/drawing/2014/main" id="{6D7C0869-F5A1-0F94-AC76-A326664C8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1" y="2110735"/>
            <a:ext cx="4966979" cy="43891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D733BE-69F9-FB63-2C77-C1396EB7E3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09235"/>
            <a:ext cx="5941072" cy="3485896"/>
          </a:xfrm>
          <a:prstGeom prst="rect">
            <a:avLst/>
          </a:prstGeom>
        </p:spPr>
      </p:pic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1E4ACC9D-B6A7-7E0A-F476-C35C242CB66D}"/>
              </a:ext>
            </a:extLst>
          </p:cNvPr>
          <p:cNvSpPr/>
          <p:nvPr/>
        </p:nvSpPr>
        <p:spPr>
          <a:xfrm>
            <a:off x="7617471" y="1308100"/>
            <a:ext cx="4292600" cy="1295400"/>
          </a:xfrm>
          <a:prstGeom prst="callout2">
            <a:avLst>
              <a:gd name="adj1" fmla="val 23652"/>
              <a:gd name="adj2" fmla="val 4389"/>
              <a:gd name="adj3" fmla="val 18750"/>
              <a:gd name="adj4" fmla="val -16667"/>
              <a:gd name="adj5" fmla="val 112500"/>
              <a:gd name="adj6" fmla="val -4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0" i="0" spc="300" dirty="0">
                <a:solidFill>
                  <a:schemeClr val="bg1"/>
                </a:solidFill>
                <a:effectLst/>
                <a:latin typeface="fkGroteskNeue"/>
              </a:rPr>
              <a:t>Plots total sales for each month to highlight seasonality and business cycles.</a:t>
            </a:r>
          </a:p>
          <a:p>
            <a:pPr algn="ctr"/>
            <a:endParaRPr lang="en-US" sz="1600" spc="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2D4D3-B35F-AB84-F0CE-8519140B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5567DCC-4651-8918-CDDB-16B442DC86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0392" y="566928"/>
            <a:ext cx="10880725" cy="1069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0" spc="600" dirty="0">
                <a:solidFill>
                  <a:schemeClr val="bg1"/>
                </a:solidFill>
                <a:effectLst/>
                <a:latin typeface="fkGroteskNeue"/>
              </a:rPr>
              <a:t>Top Products (Bar)</a:t>
            </a:r>
            <a:endParaRPr lang="en-US" sz="3200" b="1" spc="600" dirty="0">
              <a:solidFill>
                <a:schemeClr val="bg1"/>
              </a:solidFill>
              <a:latin typeface="fkGroteskNeue"/>
            </a:endParaRPr>
          </a:p>
        </p:txBody>
      </p:sp>
      <p:pic>
        <p:nvPicPr>
          <p:cNvPr id="15" name="Picture 14" descr="A chart with colorful bars">
            <a:extLst>
              <a:ext uri="{FF2B5EF4-FFF2-40B4-BE49-F238E27FC236}">
                <a16:creationId xmlns:a16="http://schemas.microsoft.com/office/drawing/2014/main" id="{681505B3-9C7A-0549-6CA8-AE2358F9A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21" y="1882776"/>
            <a:ext cx="4497079" cy="4408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956C8D-EE5D-937F-3541-EDA68B250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900" y="3187700"/>
            <a:ext cx="6654800" cy="2436964"/>
          </a:xfrm>
          <a:prstGeom prst="rect">
            <a:avLst/>
          </a:prstGeom>
        </p:spPr>
      </p:pic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96E34149-CC88-384A-0E83-D93C24A59B0D}"/>
              </a:ext>
            </a:extLst>
          </p:cNvPr>
          <p:cNvSpPr/>
          <p:nvPr/>
        </p:nvSpPr>
        <p:spPr>
          <a:xfrm>
            <a:off x="7176326" y="1877314"/>
            <a:ext cx="3911600" cy="1069975"/>
          </a:xfrm>
          <a:prstGeom prst="callout2">
            <a:avLst>
              <a:gd name="adj1" fmla="val 23498"/>
              <a:gd name="adj2" fmla="val 6602"/>
              <a:gd name="adj3" fmla="val 17563"/>
              <a:gd name="adj4" fmla="val -18290"/>
              <a:gd name="adj5" fmla="val 89948"/>
              <a:gd name="adj6" fmla="val -4829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spc="300" dirty="0">
                <a:effectLst/>
                <a:latin typeface="fkGroteskNeue"/>
              </a:rPr>
              <a:t>Displays the top-selling products, helping identify inventory and marketing priorities.</a:t>
            </a:r>
          </a:p>
          <a:p>
            <a:pPr algn="ctr"/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3003513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4C44EC9-F730-00B6-E479-530EC276D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497321" y="2736484"/>
            <a:ext cx="1512407" cy="938717"/>
            <a:chOff x="4779792" y="2384561"/>
            <a:chExt cx="3365480" cy="2088878"/>
          </a:xfrm>
          <a:solidFill>
            <a:schemeClr val="accent6">
              <a:alpha val="50231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8B6D2F8E-4F98-B89F-E4FB-DD9F900821E1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9EBD7AD-ED91-CC5F-0110-3EE43A60F946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6B0BED4-B4D2-A8C2-9E8E-FA7D1819E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199707" y="3205843"/>
            <a:ext cx="1512408" cy="938718"/>
            <a:chOff x="4779792" y="2384561"/>
            <a:chExt cx="3365480" cy="2088878"/>
          </a:xfrm>
          <a:solidFill>
            <a:schemeClr val="accent1">
              <a:alpha val="48174"/>
            </a:schemeClr>
          </a:solidFill>
        </p:grpSpPr>
        <p:sp>
          <p:nvSpPr>
            <p:cNvPr id="8" name="Freeform 1">
              <a:extLst>
                <a:ext uri="{FF2B5EF4-FFF2-40B4-BE49-F238E27FC236}">
                  <a16:creationId xmlns:a16="http://schemas.microsoft.com/office/drawing/2014/main" id="{B542C6FD-B908-03BB-DE9D-1E76EE849265}"/>
                </a:ext>
              </a:extLst>
            </p:cNvPr>
            <p:cNvSpPr/>
            <p:nvPr/>
          </p:nvSpPr>
          <p:spPr>
            <a:xfrm flipH="1">
              <a:off x="6582137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94F7F18-2B8D-7493-904B-1BD252DFC677}"/>
                </a:ext>
              </a:extLst>
            </p:cNvPr>
            <p:cNvSpPr/>
            <p:nvPr/>
          </p:nvSpPr>
          <p:spPr>
            <a:xfrm flipH="1">
              <a:off x="4779792" y="2384561"/>
              <a:ext cx="1563135" cy="2088878"/>
            </a:xfrm>
            <a:custGeom>
              <a:avLst/>
              <a:gdLst>
                <a:gd name="connsiteX0" fmla="*/ 520700 w 1041400"/>
                <a:gd name="connsiteY0" fmla="*/ 0 h 1391663"/>
                <a:gd name="connsiteX1" fmla="*/ 0 w 1041400"/>
                <a:gd name="connsiteY1" fmla="*/ 520700 h 1391663"/>
                <a:gd name="connsiteX2" fmla="*/ 601 w 1041400"/>
                <a:gd name="connsiteY2" fmla="*/ 526665 h 1391663"/>
                <a:gd name="connsiteX3" fmla="*/ 0 w 1041400"/>
                <a:gd name="connsiteY3" fmla="*/ 530884 h 1391663"/>
                <a:gd name="connsiteX4" fmla="*/ 839841 w 1041400"/>
                <a:gd name="connsiteY4" fmla="*/ 1391663 h 1391663"/>
                <a:gd name="connsiteX5" fmla="*/ 596988 w 1041400"/>
                <a:gd name="connsiteY5" fmla="*/ 1070463 h 1391663"/>
                <a:gd name="connsiteX6" fmla="*/ 595327 w 1041400"/>
                <a:gd name="connsiteY6" fmla="*/ 1033877 h 1391663"/>
                <a:gd name="connsiteX7" fmla="*/ 625639 w 1041400"/>
                <a:gd name="connsiteY7" fmla="*/ 1030821 h 1391663"/>
                <a:gd name="connsiteX8" fmla="*/ 1041400 w 1041400"/>
                <a:gd name="connsiteY8" fmla="*/ 520700 h 1391663"/>
                <a:gd name="connsiteX9" fmla="*/ 520700 w 1041400"/>
                <a:gd name="connsiteY9" fmla="*/ 0 h 139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41400" h="1391663">
                  <a:moveTo>
                    <a:pt x="520700" y="0"/>
                  </a:moveTo>
                  <a:cubicBezTo>
                    <a:pt x="233125" y="0"/>
                    <a:pt x="0" y="233125"/>
                    <a:pt x="0" y="520700"/>
                  </a:cubicBezTo>
                  <a:lnTo>
                    <a:pt x="601" y="526665"/>
                  </a:lnTo>
                  <a:lnTo>
                    <a:pt x="0" y="530884"/>
                  </a:lnTo>
                  <a:cubicBezTo>
                    <a:pt x="1270" y="763309"/>
                    <a:pt x="141037" y="1339599"/>
                    <a:pt x="839841" y="1391663"/>
                  </a:cubicBezTo>
                  <a:cubicBezTo>
                    <a:pt x="756282" y="1328754"/>
                    <a:pt x="622088" y="1243235"/>
                    <a:pt x="596988" y="1070463"/>
                  </a:cubicBezTo>
                  <a:lnTo>
                    <a:pt x="595327" y="1033877"/>
                  </a:lnTo>
                  <a:lnTo>
                    <a:pt x="625639" y="1030821"/>
                  </a:lnTo>
                  <a:cubicBezTo>
                    <a:pt x="862914" y="982268"/>
                    <a:pt x="1041400" y="772328"/>
                    <a:pt x="1041400" y="520700"/>
                  </a:cubicBezTo>
                  <a:cubicBezTo>
                    <a:pt x="1041400" y="233125"/>
                    <a:pt x="808275" y="0"/>
                    <a:pt x="5207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CF98531C-FED8-29EC-AF98-40B8B88C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fkGroteskNeue"/>
              </a:rPr>
              <a:t>Sales Distribution (Histogram)</a:t>
            </a:r>
            <a:endParaRPr lang="en-US" dirty="0"/>
          </a:p>
        </p:txBody>
      </p:sp>
      <p:pic>
        <p:nvPicPr>
          <p:cNvPr id="14" name="Picture 13" descr="A graph of sales distribution&#10;&#10;AI-generated content may be incorrect.">
            <a:extLst>
              <a:ext uri="{FF2B5EF4-FFF2-40B4-BE49-F238E27FC236}">
                <a16:creationId xmlns:a16="http://schemas.microsoft.com/office/drawing/2014/main" id="{CDDAF31F-C57F-F6A5-4743-BCA6024B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95" y="2258896"/>
            <a:ext cx="5245608" cy="37713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03E0BD-3A9E-B9AC-C1CE-A4DF9BCDAA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867"/>
          <a:stretch/>
        </p:blipFill>
        <p:spPr>
          <a:xfrm>
            <a:off x="6096000" y="2736484"/>
            <a:ext cx="5988502" cy="1740027"/>
          </a:xfrm>
          <a:prstGeom prst="rect">
            <a:avLst/>
          </a:prstGeom>
        </p:spPr>
      </p:pic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978945D2-870E-2431-C5BC-D40F74B9A62A}"/>
              </a:ext>
            </a:extLst>
          </p:cNvPr>
          <p:cNvSpPr/>
          <p:nvPr/>
        </p:nvSpPr>
        <p:spPr>
          <a:xfrm>
            <a:off x="7607300" y="4945870"/>
            <a:ext cx="4229240" cy="1256369"/>
          </a:xfrm>
          <a:prstGeom prst="callout2">
            <a:avLst>
              <a:gd name="adj1" fmla="val 52108"/>
              <a:gd name="adj2" fmla="val 16"/>
              <a:gd name="adj3" fmla="val 59184"/>
              <a:gd name="adj4" fmla="val -12696"/>
              <a:gd name="adj5" fmla="val 16469"/>
              <a:gd name="adj6" fmla="val -3762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b="0" i="0" spc="300" dirty="0">
                <a:effectLst/>
                <a:latin typeface="fkGroteskNeue"/>
              </a:rPr>
              <a:t>Shows how transaction amounts are spread, revealing skewness and outlier sales.</a:t>
            </a:r>
          </a:p>
        </p:txBody>
      </p:sp>
    </p:spTree>
    <p:extLst>
      <p:ext uri="{BB962C8B-B14F-4D97-AF65-F5344CB8AC3E}">
        <p14:creationId xmlns:p14="http://schemas.microsoft.com/office/powerpoint/2010/main" val="12132100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3EE81-32BD-FCE5-65D6-33C955BB2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effectLst/>
                <a:latin typeface="fkGroteskNeue"/>
              </a:rPr>
              <a:t>Correlation Matrix (Heatmap)</a:t>
            </a:r>
            <a:br>
              <a:rPr lang="en-US" b="0" i="0" dirty="0">
                <a:effectLst/>
                <a:latin typeface="fkGroteskNeue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591FF-6721-96E6-CE48-253DAE52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pic>
        <p:nvPicPr>
          <p:cNvPr id="12" name="Picture 11" descr="A graph of sales and sales&#10;&#10;AI-generated content may be incorrect.">
            <a:extLst>
              <a:ext uri="{FF2B5EF4-FFF2-40B4-BE49-F238E27FC236}">
                <a16:creationId xmlns:a16="http://schemas.microsoft.com/office/drawing/2014/main" id="{F976295E-3EFF-6F8B-A0D9-B25E25AA7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292" y="2025391"/>
            <a:ext cx="5511808" cy="40005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D5805F-2590-E66A-FBB9-A66919A78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100" y="2642871"/>
            <a:ext cx="5715000" cy="1825744"/>
          </a:xfrm>
          <a:prstGeom prst="rect">
            <a:avLst/>
          </a:prstGeom>
        </p:spPr>
      </p:pic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4A07308F-078E-5077-1FF7-BF6870BFF872}"/>
              </a:ext>
            </a:extLst>
          </p:cNvPr>
          <p:cNvSpPr/>
          <p:nvPr/>
        </p:nvSpPr>
        <p:spPr>
          <a:xfrm>
            <a:off x="7315200" y="5108449"/>
            <a:ext cx="4546600" cy="1406651"/>
          </a:xfrm>
          <a:prstGeom prst="callout2">
            <a:avLst>
              <a:gd name="adj1" fmla="val 41321"/>
              <a:gd name="adj2" fmla="val 7030"/>
              <a:gd name="adj3" fmla="val 50350"/>
              <a:gd name="adj4" fmla="val -8007"/>
              <a:gd name="adj5" fmla="val 8672"/>
              <a:gd name="adj6" fmla="val -2404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spc="300" dirty="0">
                <a:effectLst/>
                <a:latin typeface="fkGroteskNeue"/>
              </a:rPr>
              <a:t>Visualizes relationships between quantity, price, and sales for analytical insights</a:t>
            </a:r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392376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D953-A635-D345-3BF1-AD1A948B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sz="3600" b="0" i="0" dirty="0">
                <a:effectLst/>
                <a:latin typeface="fkGroteskNeue"/>
              </a:rPr>
              <a:t>Boxplot (spread by product/country)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9B418-7A8B-8A30-2437-C15D0EDCD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  <p:pic>
        <p:nvPicPr>
          <p:cNvPr id="10" name="Picture 9" descr="A graph with blue and purple squares&#10;&#10;AI-generated content may be incorrect.">
            <a:extLst>
              <a:ext uri="{FF2B5EF4-FFF2-40B4-BE49-F238E27FC236}">
                <a16:creationId xmlns:a16="http://schemas.microsoft.com/office/drawing/2014/main" id="{E9936247-EA4A-8C83-DA84-A4BCA64B3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93" y="2120900"/>
            <a:ext cx="5461007" cy="4343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F99099-5A60-033A-2D25-9BAEE2AB2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3827179"/>
            <a:ext cx="5461006" cy="2257740"/>
          </a:xfrm>
          <a:prstGeom prst="rect">
            <a:avLst/>
          </a:prstGeom>
        </p:spPr>
      </p:pic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C5BC132A-69A7-418F-D69E-A182EE26D60A}"/>
              </a:ext>
            </a:extLst>
          </p:cNvPr>
          <p:cNvSpPr/>
          <p:nvPr/>
        </p:nvSpPr>
        <p:spPr>
          <a:xfrm>
            <a:off x="7899400" y="2120900"/>
            <a:ext cx="3225800" cy="1069848"/>
          </a:xfrm>
          <a:prstGeom prst="callout2">
            <a:avLst>
              <a:gd name="adj1" fmla="val 38932"/>
              <a:gd name="adj2" fmla="val 3871"/>
              <a:gd name="adj3" fmla="val 36556"/>
              <a:gd name="adj4" fmla="val -16667"/>
              <a:gd name="adj5" fmla="val 110126"/>
              <a:gd name="adj6" fmla="val -4588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spc="300" dirty="0">
                <a:effectLst/>
                <a:latin typeface="fkGroteskNeue"/>
              </a:rPr>
              <a:t>Illustrates the spread and variability of sales in each product or region group</a:t>
            </a:r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802820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40DAA-3369-2D76-3F94-CA94FF10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Trend Decomposition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9B891-8FAC-BE73-C1A8-BD08C03F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8A62D7F0-F92A-3822-A771-1E4592761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644135"/>
            <a:ext cx="5339086" cy="35915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035D4-712C-29EF-56D3-6D231F981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71" y="3984504"/>
            <a:ext cx="5630061" cy="1733792"/>
          </a:xfrm>
          <a:prstGeom prst="rect">
            <a:avLst/>
          </a:prstGeom>
        </p:spPr>
      </p:pic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20A5DD19-431B-751D-D215-A690B4A2339A}"/>
              </a:ext>
            </a:extLst>
          </p:cNvPr>
          <p:cNvSpPr/>
          <p:nvPr/>
        </p:nvSpPr>
        <p:spPr>
          <a:xfrm>
            <a:off x="7532623" y="1901952"/>
            <a:ext cx="4199129" cy="1527048"/>
          </a:xfrm>
          <a:prstGeom prst="callout2">
            <a:avLst>
              <a:gd name="adj1" fmla="val 33720"/>
              <a:gd name="adj2" fmla="val 14350"/>
              <a:gd name="adj3" fmla="val 35383"/>
              <a:gd name="adj4" fmla="val -12433"/>
              <a:gd name="adj5" fmla="val 72580"/>
              <a:gd name="adj6" fmla="val -3184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spc="300" dirty="0">
                <a:effectLst/>
                <a:latin typeface="fkGroteskNeue"/>
              </a:rPr>
              <a:t>Separates sales data into trend, seasonality, and residuals to reveal underlying business patterns.</a:t>
            </a:r>
          </a:p>
          <a:p>
            <a:pPr algn="ctr"/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2973226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748286D-8AD0-7416-A94F-9D867D50C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43" y="2917734"/>
            <a:ext cx="5845557" cy="36989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AADE42-A72B-A15E-9A08-1448DCBA8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320" y="1422400"/>
            <a:ext cx="5124180" cy="40643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03366F-D6D3-5F09-8B23-E3341C9D124D}"/>
              </a:ext>
            </a:extLst>
          </p:cNvPr>
          <p:cNvSpPr txBox="1"/>
          <p:nvPr/>
        </p:nvSpPr>
        <p:spPr>
          <a:xfrm>
            <a:off x="3606800" y="241300"/>
            <a:ext cx="5422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0" i="0" spc="300" dirty="0">
                <a:solidFill>
                  <a:schemeClr val="bg1"/>
                </a:solidFill>
                <a:effectLst/>
                <a:latin typeface="fkGrotesk"/>
              </a:rPr>
              <a:t>Dashboard Highlights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A76A5C-8549-3650-0C00-188C348C54AC}"/>
              </a:ext>
            </a:extLst>
          </p:cNvPr>
          <p:cNvSpPr txBox="1"/>
          <p:nvPr/>
        </p:nvSpPr>
        <p:spPr>
          <a:xfrm>
            <a:off x="860043" y="1485900"/>
            <a:ext cx="5235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Easily filter sales by country or month using slicers.</a:t>
            </a:r>
          </a:p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Axis formats set to Lakhs; charts update automatically</a:t>
            </a:r>
            <a:endParaRPr lang="en-US" spc="3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A1DFDE-82C7-504A-C546-B39A319149E3}"/>
              </a:ext>
            </a:extLst>
          </p:cNvPr>
          <p:cNvSpPr txBox="1"/>
          <p:nvPr/>
        </p:nvSpPr>
        <p:spPr>
          <a:xfrm>
            <a:off x="6623320" y="5780176"/>
            <a:ext cx="5318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Managers can identify monthly trends, top products, and regional performance at a glance</a:t>
            </a:r>
            <a:endParaRPr lang="en-US" spc="300" dirty="0">
              <a:solidFill>
                <a:schemeClr val="bg1"/>
              </a:solidFill>
            </a:endParaRPr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50338565-0F9E-AFD7-2933-D2445DBB82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0021" y="3532379"/>
            <a:ext cx="533400" cy="326643"/>
          </a:xfrm>
          <a:prstGeom prst="curved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7FC84D-E6D8-69B7-D627-B62847B598D6}"/>
              </a:ext>
            </a:extLst>
          </p:cNvPr>
          <p:cNvGrpSpPr/>
          <p:nvPr/>
        </p:nvGrpSpPr>
        <p:grpSpPr>
          <a:xfrm>
            <a:off x="533399" y="3066439"/>
            <a:ext cx="1280922" cy="376103"/>
            <a:chOff x="533399" y="3066439"/>
            <a:chExt cx="1280922" cy="376103"/>
          </a:xfrm>
        </p:grpSpPr>
        <p:sp>
          <p:nvSpPr>
            <p:cNvPr id="25" name="Scroll: Horizontal 24">
              <a:extLst>
                <a:ext uri="{FF2B5EF4-FFF2-40B4-BE49-F238E27FC236}">
                  <a16:creationId xmlns:a16="http://schemas.microsoft.com/office/drawing/2014/main" id="{96E466A1-E600-CA7A-4182-193C5215E609}"/>
                </a:ext>
              </a:extLst>
            </p:cNvPr>
            <p:cNvSpPr/>
            <p:nvPr/>
          </p:nvSpPr>
          <p:spPr>
            <a:xfrm>
              <a:off x="533399" y="3073210"/>
              <a:ext cx="1117600" cy="369332"/>
            </a:xfrm>
            <a:prstGeom prst="horizontalScroll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F0320E-CA86-A264-0841-75A3BB88AD70}"/>
                </a:ext>
              </a:extLst>
            </p:cNvPr>
            <p:cNvSpPr txBox="1"/>
            <p:nvPr/>
          </p:nvSpPr>
          <p:spPr>
            <a:xfrm>
              <a:off x="696721" y="3066439"/>
              <a:ext cx="111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fkGrotesk"/>
                </a:rPr>
                <a:t>Slicers</a:t>
              </a:r>
              <a:r>
                <a:rPr lang="en-US" dirty="0">
                  <a:latin typeface="fkGrotesk"/>
                </a:rPr>
                <a:t>	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0CA8DBB-1704-2CEB-F54A-B1110D4F97CF}"/>
              </a:ext>
            </a:extLst>
          </p:cNvPr>
          <p:cNvGrpSpPr/>
          <p:nvPr/>
        </p:nvGrpSpPr>
        <p:grpSpPr>
          <a:xfrm>
            <a:off x="10673334" y="5298655"/>
            <a:ext cx="1280922" cy="376103"/>
            <a:chOff x="533399" y="3066439"/>
            <a:chExt cx="1280922" cy="376103"/>
          </a:xfrm>
        </p:grpSpPr>
        <p:sp>
          <p:nvSpPr>
            <p:cNvPr id="28" name="Scroll: Horizontal 27">
              <a:extLst>
                <a:ext uri="{FF2B5EF4-FFF2-40B4-BE49-F238E27FC236}">
                  <a16:creationId xmlns:a16="http://schemas.microsoft.com/office/drawing/2014/main" id="{DB4590AC-3DB9-5EE6-7152-E833DE8EC27F}"/>
                </a:ext>
              </a:extLst>
            </p:cNvPr>
            <p:cNvSpPr/>
            <p:nvPr/>
          </p:nvSpPr>
          <p:spPr>
            <a:xfrm>
              <a:off x="533399" y="3073210"/>
              <a:ext cx="1117600" cy="369332"/>
            </a:xfrm>
            <a:prstGeom prst="horizontalScroll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3426169-D1F5-B856-1837-A682E773ED7B}"/>
                </a:ext>
              </a:extLst>
            </p:cNvPr>
            <p:cNvSpPr txBox="1"/>
            <p:nvPr/>
          </p:nvSpPr>
          <p:spPr>
            <a:xfrm>
              <a:off x="696721" y="3066439"/>
              <a:ext cx="1117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fkGrotesk"/>
                </a:rPr>
                <a:t>Slicers</a:t>
              </a:r>
              <a:r>
                <a:rPr lang="en-US" dirty="0">
                  <a:latin typeface="fkGrotesk"/>
                </a:rPr>
                <a:t>	</a:t>
              </a:r>
            </a:p>
          </p:txBody>
        </p:sp>
      </p:grp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51A0557F-9345-6A94-EC12-3D8B7D186A5A}"/>
              </a:ext>
            </a:extLst>
          </p:cNvPr>
          <p:cNvCxnSpPr>
            <a:endCxn id="29" idx="0"/>
          </p:cNvCxnSpPr>
          <p:nvPr/>
        </p:nvCxnSpPr>
        <p:spPr>
          <a:xfrm rot="16200000" flipH="1">
            <a:off x="10884301" y="4787499"/>
            <a:ext cx="650455" cy="371856"/>
          </a:xfrm>
          <a:prstGeom prst="curvedConnector3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138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9DD27D-5505-F099-894A-A1FA645E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Title 105">
            <a:extLst>
              <a:ext uri="{FF2B5EF4-FFF2-40B4-BE49-F238E27FC236}">
                <a16:creationId xmlns:a16="http://schemas.microsoft.com/office/drawing/2014/main" id="{B11C4AB7-DCA7-A6E1-3C56-C2FCF9196225}"/>
              </a:ext>
            </a:extLst>
          </p:cNvPr>
          <p:cNvSpPr txBox="1">
            <a:spLocks/>
          </p:cNvSpPr>
          <p:nvPr/>
        </p:nvSpPr>
        <p:spPr>
          <a:xfrm>
            <a:off x="1104900" y="832104"/>
            <a:ext cx="10096500" cy="71307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>
                <a:latin typeface="fkGrotesk"/>
              </a:rPr>
              <a:t>Insights &amp; Recommendations</a:t>
            </a:r>
            <a:endParaRPr lang="en-US" b="0" dirty="0">
              <a:latin typeface="fk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7BCD3-D578-36A4-F3EC-1C643E50B006}"/>
              </a:ext>
            </a:extLst>
          </p:cNvPr>
          <p:cNvSpPr txBox="1"/>
          <p:nvPr/>
        </p:nvSpPr>
        <p:spPr>
          <a:xfrm>
            <a:off x="850392" y="1816100"/>
            <a:ext cx="8344408" cy="3364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 </a:t>
            </a:r>
            <a:r>
              <a:rPr lang="en-GB" b="1" i="0" spc="300" dirty="0">
                <a:solidFill>
                  <a:schemeClr val="bg1"/>
                </a:solidFill>
                <a:effectLst/>
                <a:latin typeface="fkGroteskNeue"/>
              </a:rPr>
              <a:t>Strong seasonality </a:t>
            </a: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– "Sales peak in holiday months; recommend targeted marketing during these periods."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 </a:t>
            </a:r>
            <a:r>
              <a:rPr lang="en-GB" b="1" i="0" spc="300" dirty="0">
                <a:solidFill>
                  <a:schemeClr val="bg1"/>
                </a:solidFill>
                <a:effectLst/>
                <a:latin typeface="fkGroteskNeue"/>
              </a:rPr>
              <a:t>Inventory optimization for top products </a:t>
            </a: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– "High-selling items identified for stock prioritization."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 </a:t>
            </a:r>
            <a:r>
              <a:rPr lang="en-GB" b="1" i="0" spc="300" dirty="0">
                <a:solidFill>
                  <a:schemeClr val="bg1"/>
                </a:solidFill>
                <a:effectLst/>
                <a:latin typeface="fkGroteskNeue"/>
              </a:rPr>
              <a:t>Emerging opportunities in non-UK regions </a:t>
            </a:r>
            <a:r>
              <a:rPr lang="en-GB" b="0" i="0" spc="300" dirty="0">
                <a:solidFill>
                  <a:schemeClr val="bg1"/>
                </a:solidFill>
                <a:effectLst/>
                <a:latin typeface="fkGroteskNeue"/>
              </a:rPr>
              <a:t>– "Significant sales growth seen in [Top 2] growing countries; suggest regional campaigns."</a:t>
            </a:r>
          </a:p>
          <a:p>
            <a:pPr>
              <a:lnSpc>
                <a:spcPct val="150000"/>
              </a:lnSpc>
            </a:pPr>
            <a:endParaRPr lang="en-US" spc="300" dirty="0">
              <a:solidFill>
                <a:schemeClr val="bg1"/>
              </a:solidFill>
            </a:endParaRP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87D30EE1-0470-C1F2-8BD3-B263139722EF}"/>
              </a:ext>
            </a:extLst>
          </p:cNvPr>
          <p:cNvSpPr/>
          <p:nvPr/>
        </p:nvSpPr>
        <p:spPr>
          <a:xfrm>
            <a:off x="7391400" y="4254500"/>
            <a:ext cx="4550156" cy="2210308"/>
          </a:xfrm>
          <a:prstGeom prst="wedgeEllipseCallou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0" i="0" spc="300" dirty="0">
                <a:solidFill>
                  <a:schemeClr val="tx1"/>
                </a:solidFill>
                <a:effectLst/>
                <a:latin typeface="fkGroteskNeue"/>
              </a:rPr>
              <a:t>“Optimize marketing spend toward identified season peaks and invest in growing international markets”</a:t>
            </a:r>
            <a:endParaRPr lang="en-US" spc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235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27648E56-F655-A57F-3CBA-F72B6E6F7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4836" y="238760"/>
            <a:ext cx="8878824" cy="1069848"/>
          </a:xfrm>
        </p:spPr>
        <p:txBody>
          <a:bodyPr>
            <a:normAutofit/>
          </a:bodyPr>
          <a:lstStyle/>
          <a:p>
            <a:pPr algn="ctr"/>
            <a:r>
              <a:rPr lang="en-US" sz="4400" b="0" i="0" dirty="0">
                <a:effectLst/>
                <a:latin typeface="fkGrotesk"/>
              </a:rPr>
              <a:t>Challenges &amp; Solutions</a:t>
            </a:r>
            <a:endParaRPr lang="en-US" sz="44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DDFD3CF-653B-D434-FCE6-68E993AA4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64B0DC4-5EBB-0231-88C0-652DF0D68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3876040"/>
          </a:xfrm>
        </p:spPr>
        <p:txBody>
          <a:bodyPr/>
          <a:lstStyle/>
          <a:p>
            <a:r>
              <a:rPr lang="en-GB" b="0" i="0" dirty="0">
                <a:effectLst/>
                <a:latin typeface="fkGroteskNeue"/>
              </a:rPr>
              <a:t>Outliers and missing values introduced noise.</a:t>
            </a:r>
          </a:p>
          <a:p>
            <a:r>
              <a:rPr lang="en-GB" b="0" i="0" dirty="0">
                <a:effectLst/>
                <a:latin typeface="fkGroteskNeue"/>
              </a:rPr>
              <a:t>Visual mismatch between Python graphs and Excel charts</a:t>
            </a:r>
          </a:p>
          <a:p>
            <a:r>
              <a:rPr lang="en-GB" b="0" i="0" dirty="0">
                <a:effectLst/>
                <a:latin typeface="fkGroteskNeue"/>
              </a:rPr>
              <a:t>Slicers only controlled one chart or table; unable to filter across multiple data visualizations.</a:t>
            </a:r>
          </a:p>
          <a:p>
            <a:r>
              <a:rPr lang="en-GB" b="0" i="0" dirty="0">
                <a:effectLst/>
                <a:latin typeface="fkGroteskNeue"/>
              </a:rPr>
              <a:t>Box-and-whisker chart rendered as “X marks” due to single-value or identical data points in some groups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028831D-D702-B02F-25AA-03D6A3634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Solutions/Actions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F2307055-3FB0-C1C2-C717-C2B2044E7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3771900"/>
          </a:xfrm>
        </p:spPr>
        <p:txBody>
          <a:bodyPr/>
          <a:lstStyle/>
          <a:p>
            <a:r>
              <a:rPr lang="en-GB" b="0" i="0" dirty="0">
                <a:effectLst/>
                <a:latin typeface="fkGroteskNeue"/>
              </a:rPr>
              <a:t>Applied rigorous filtering and imputation using Python Pandas.</a:t>
            </a:r>
          </a:p>
          <a:p>
            <a:r>
              <a:rPr lang="en-GB" b="0" i="0" dirty="0">
                <a:effectLst/>
                <a:latin typeface="fkGroteskNeue"/>
              </a:rPr>
              <a:t>Matched bin widths, axis scales, and custom </a:t>
            </a:r>
            <a:r>
              <a:rPr lang="en-GB" b="0" i="0" dirty="0" err="1">
                <a:effectLst/>
                <a:latin typeface="fkGroteskNeue"/>
              </a:rPr>
              <a:t>color</a:t>
            </a:r>
            <a:r>
              <a:rPr lang="en-GB" b="0" i="0" dirty="0">
                <a:effectLst/>
                <a:latin typeface="fkGroteskNeue"/>
              </a:rPr>
              <a:t> palettes for consistency</a:t>
            </a:r>
          </a:p>
          <a:p>
            <a:r>
              <a:rPr lang="en-GB" b="0" i="0" dirty="0">
                <a:effectLst/>
                <a:latin typeface="fkGroteskNeue"/>
              </a:rPr>
              <a:t>Manually configured slicer connections using "Report Connections" in Excel, enabling coordinated dashboard interactivity.</a:t>
            </a:r>
          </a:p>
          <a:p>
            <a:r>
              <a:rPr lang="en-GB" b="0" i="0" dirty="0">
                <a:effectLst/>
                <a:latin typeface="fkGroteskNeue"/>
              </a:rPr>
              <a:t> Increased data points and/or limited boxplot analysis to groups with sufficient data variation.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F43E31B-BD9E-8868-C0A8-F763FB6E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372" y="885444"/>
            <a:ext cx="8878824" cy="1069848"/>
          </a:xfrm>
        </p:spPr>
        <p:txBody>
          <a:bodyPr/>
          <a:lstStyle/>
          <a:p>
            <a:pPr algn="ctr"/>
            <a:r>
              <a:rPr lang="en-US" b="0" i="0" dirty="0">
                <a:effectLst/>
                <a:latin typeface="fkGrotesk"/>
              </a:rPr>
              <a:t>Conclusion &amp; Next Steps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5F55EAE-0A55-62E3-5FB0-A73D25AD72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7292" y="2743200"/>
            <a:ext cx="2953512" cy="2578608"/>
          </a:xfrm>
        </p:spPr>
        <p:txBody>
          <a:bodyPr/>
          <a:lstStyle/>
          <a:p>
            <a:r>
              <a:rPr lang="en-GB" b="0" i="0" spc="300" dirty="0">
                <a:effectLst/>
                <a:latin typeface="fkGroteskNeue"/>
              </a:rPr>
              <a:t>This workflow combines advanced Python analytics and Excel dashboards to deliver actionable business intelligence from large e-commerce datasets.</a:t>
            </a:r>
            <a:endParaRPr lang="en-US" spc="300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4ADA267-0AE3-24EB-48C1-A248FE8279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3505200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0" i="0" spc="300" dirty="0">
                <a:effectLst/>
                <a:latin typeface="fkGroteskNeue"/>
              </a:rPr>
              <a:t>The provided templates can be expanded for other retail datasets or adapted to include machine learning forecasts.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spc="300" dirty="0">
                <a:effectLst/>
                <a:latin typeface="fkGroteskNeue"/>
              </a:rPr>
              <a:t>Dashboards can be deployed for real-time monitoring or extended to cloud-based analytics platforms.</a:t>
            </a:r>
          </a:p>
          <a:p>
            <a:endParaRPr lang="en-US" spc="300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BBDFCC-4B9C-B4EE-EA7B-A08E50967C0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GB" b="0" i="0" spc="300" dirty="0">
                <a:effectLst/>
                <a:latin typeface="fkGroteskNeue"/>
              </a:rPr>
              <a:t>Enables data-driven decisions and aligns with industry reporting standards.</a:t>
            </a:r>
            <a:endParaRPr lang="en-US" spc="300" dirty="0"/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8C5BC92-868A-26B2-CBC0-C9D94E65F1A4}"/>
              </a:ext>
            </a:extLst>
          </p:cNvPr>
          <p:cNvSpPr txBox="1">
            <a:spLocks/>
          </p:cNvSpPr>
          <p:nvPr/>
        </p:nvSpPr>
        <p:spPr>
          <a:xfrm>
            <a:off x="2062988" y="1040383"/>
            <a:ext cx="7735824" cy="13489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400" dirty="0">
                <a:ln w="28575">
                  <a:noFill/>
                  <a:prstDash val="solid"/>
                </a:ln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SUMMARY</a:t>
            </a:r>
            <a:endParaRPr lang="en-US" sz="44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F9C1627-7A56-025E-482D-E2AB014EDF92}"/>
              </a:ext>
            </a:extLst>
          </p:cNvPr>
          <p:cNvSpPr txBox="1">
            <a:spLocks/>
          </p:cNvSpPr>
          <p:nvPr/>
        </p:nvSpPr>
        <p:spPr>
          <a:xfrm>
            <a:off x="1701800" y="2616200"/>
            <a:ext cx="8623300" cy="2857500"/>
          </a:xfrm>
          <a:prstGeom prst="rect">
            <a:avLst/>
          </a:prstGeom>
        </p:spPr>
        <p:txBody>
          <a:bodyPr/>
          <a:lstStyle>
            <a:lvl1pPr marL="228600" indent="-347472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20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spc="300" dirty="0">
                <a:latin typeface="berkeleyMono"/>
              </a:rPr>
              <a:t>Performed thorough data cleaning and advanced analysis on Kaggle e-commerce dataset. </a:t>
            </a:r>
          </a:p>
          <a:p>
            <a:r>
              <a:rPr lang="en-GB" sz="1800" spc="300" dirty="0">
                <a:latin typeface="berkeleyMono"/>
              </a:rPr>
              <a:t>Visualized major sales patterns, product trends, and regional performance.</a:t>
            </a:r>
          </a:p>
          <a:p>
            <a:r>
              <a:rPr lang="en-GB" sz="1800" spc="300" dirty="0">
                <a:latin typeface="berkeleyMono"/>
              </a:rPr>
              <a:t>Developed an interactive Excel dashboard for business insights. </a:t>
            </a:r>
          </a:p>
          <a:p>
            <a:r>
              <a:rPr lang="en-GB" sz="1800" spc="300" dirty="0">
                <a:latin typeface="berkeleyMono"/>
              </a:rPr>
              <a:t> Tackled data and visualization challenges with professional solutions. </a:t>
            </a:r>
          </a:p>
          <a:p>
            <a:r>
              <a:rPr lang="en-GB" sz="1800" spc="300" dirty="0">
                <a:latin typeface="berkeleyMono"/>
              </a:rPr>
              <a:t>Laid a solid foundation for ongoing analytics and reporting.</a:t>
            </a:r>
            <a:endParaRPr lang="en-US" sz="1800" spc="300" dirty="0"/>
          </a:p>
        </p:txBody>
      </p:sp>
    </p:spTree>
    <p:extLst>
      <p:ext uri="{BB962C8B-B14F-4D97-AF65-F5344CB8AC3E}">
        <p14:creationId xmlns:p14="http://schemas.microsoft.com/office/powerpoint/2010/main" val="1958759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254" y="1384300"/>
            <a:ext cx="9901428" cy="855980"/>
          </a:xfrm>
        </p:spPr>
        <p:txBody>
          <a:bodyPr/>
          <a:lstStyle/>
          <a:p>
            <a:pPr algn="l"/>
            <a:r>
              <a:rPr lang="en-GB" sz="3600" b="0" i="0" dirty="0">
                <a:effectLst/>
                <a:latin typeface="fkGroteskNeue"/>
              </a:rPr>
              <a:t>Thank you for your attention!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3850" y="3492179"/>
            <a:ext cx="6180582" cy="400110"/>
          </a:xfrm>
        </p:spPr>
        <p:txBody>
          <a:bodyPr/>
          <a:lstStyle/>
          <a:p>
            <a:pPr algn="l"/>
            <a:r>
              <a:rPr lang="en-GB" sz="2000" b="0" i="0" spc="300" dirty="0">
                <a:effectLst/>
                <a:latin typeface="fkGroteskNeue"/>
              </a:rPr>
              <a:t>Questions and feedback are welcome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EF125B3-8F8D-F8B9-E721-65042457E702}"/>
              </a:ext>
            </a:extLst>
          </p:cNvPr>
          <p:cNvGrpSpPr/>
          <p:nvPr/>
        </p:nvGrpSpPr>
        <p:grpSpPr>
          <a:xfrm>
            <a:off x="4802632" y="4499673"/>
            <a:ext cx="5027168" cy="401321"/>
            <a:chOff x="4802632" y="4585911"/>
            <a:chExt cx="5027168" cy="401321"/>
          </a:xfrm>
        </p:grpSpPr>
        <p:pic>
          <p:nvPicPr>
            <p:cNvPr id="5" name="Graphic 4" descr="Envelope with solid fill">
              <a:extLst>
                <a:ext uri="{FF2B5EF4-FFF2-40B4-BE49-F238E27FC236}">
                  <a16:creationId xmlns:a16="http://schemas.microsoft.com/office/drawing/2014/main" id="{63A8405F-615A-B423-5EF4-7B80645EF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02632" y="4618932"/>
              <a:ext cx="569468" cy="3683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1ADEE9F-339A-8737-7DD7-51DE830F974E}"/>
                </a:ext>
              </a:extLst>
            </p:cNvPr>
            <p:cNvSpPr txBox="1"/>
            <p:nvPr/>
          </p:nvSpPr>
          <p:spPr>
            <a:xfrm>
              <a:off x="5372100" y="4585911"/>
              <a:ext cx="44577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0" i="0" spc="300" dirty="0">
                  <a:solidFill>
                    <a:schemeClr val="bg1"/>
                  </a:solidFill>
                  <a:effectLst/>
                  <a:latin typeface="fkGroteskNeue"/>
                </a:rPr>
                <a:t>Kunnuyadav18@gmail.com</a:t>
              </a:r>
            </a:p>
          </p:txBody>
        </p:sp>
      </p:grpSp>
      <p:pic>
        <p:nvPicPr>
          <p:cNvPr id="8" name="Graphic 7" descr="Handshake with solid fill">
            <a:extLst>
              <a:ext uri="{FF2B5EF4-FFF2-40B4-BE49-F238E27FC236}">
                <a16:creationId xmlns:a16="http://schemas.microsoft.com/office/drawing/2014/main" id="{C348B9BB-01FD-7159-58A5-EF067A3AE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632" y="3417190"/>
            <a:ext cx="569468" cy="56946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BB5D144B-CAFF-66D1-950E-33B2920A40E1}"/>
              </a:ext>
            </a:extLst>
          </p:cNvPr>
          <p:cNvGrpSpPr/>
          <p:nvPr/>
        </p:nvGrpSpPr>
        <p:grpSpPr>
          <a:xfrm>
            <a:off x="4882515" y="3987869"/>
            <a:ext cx="4782185" cy="409702"/>
            <a:chOff x="4882515" y="3987869"/>
            <a:chExt cx="4782185" cy="409702"/>
          </a:xfrm>
        </p:grpSpPr>
        <p:pic>
          <p:nvPicPr>
            <p:cNvPr id="10" name="Graphic 9" descr="Employee badge with solid fill">
              <a:extLst>
                <a:ext uri="{FF2B5EF4-FFF2-40B4-BE49-F238E27FC236}">
                  <a16:creationId xmlns:a16="http://schemas.microsoft.com/office/drawing/2014/main" id="{F115321A-E0D3-49C6-78BD-6308BD605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882515" y="3987869"/>
              <a:ext cx="409702" cy="40970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38B4201-3366-B7FC-C29C-D517DB238465}"/>
                </a:ext>
              </a:extLst>
            </p:cNvPr>
            <p:cNvSpPr txBox="1"/>
            <p:nvPr/>
          </p:nvSpPr>
          <p:spPr>
            <a:xfrm>
              <a:off x="5403850" y="4011315"/>
              <a:ext cx="4260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pc="300" dirty="0">
                  <a:solidFill>
                    <a:schemeClr val="bg1"/>
                  </a:solidFill>
                  <a:latin typeface="fkGroteskNeue"/>
                </a:rPr>
                <a:t>Kunal Yadav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572</TotalTime>
  <Words>818</Words>
  <Application>Microsoft Office PowerPoint</Application>
  <PresentationFormat>Widescreen</PresentationFormat>
  <Paragraphs>95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berkeleyMono</vt:lpstr>
      <vt:lpstr>Calibri</vt:lpstr>
      <vt:lpstr>Courier New</vt:lpstr>
      <vt:lpstr>fkGrotesk</vt:lpstr>
      <vt:lpstr>fkGroteskNeue</vt:lpstr>
      <vt:lpstr>Segoe UI Light</vt:lpstr>
      <vt:lpstr>Tw Cen MT</vt:lpstr>
      <vt:lpstr>Office Theme</vt:lpstr>
      <vt:lpstr>E-Commerce Sales Performance Analysis and Visualization using Python and Excel</vt:lpstr>
      <vt:lpstr>CONTENTS</vt:lpstr>
      <vt:lpstr>Dataset Overview</vt:lpstr>
      <vt:lpstr>Methodology</vt:lpstr>
      <vt:lpstr>Reading The file </vt:lpstr>
      <vt:lpstr>Dataframe structure summary</vt:lpstr>
      <vt:lpstr>Cleaning data</vt:lpstr>
      <vt:lpstr>Adding columns</vt:lpstr>
      <vt:lpstr>Adding columns</vt:lpstr>
      <vt:lpstr>Key Visualizations</vt:lpstr>
      <vt:lpstr>Monthly Sales Trend (Line)</vt:lpstr>
      <vt:lpstr>Top Products (Bar)</vt:lpstr>
      <vt:lpstr>Sales Distribution (Histogram)</vt:lpstr>
      <vt:lpstr>Correlation Matrix (Heatmap) </vt:lpstr>
      <vt:lpstr>Boxplot (spread by product/country)</vt:lpstr>
      <vt:lpstr>Time Trend Decomposition</vt:lpstr>
      <vt:lpstr>PowerPoint Presentation</vt:lpstr>
      <vt:lpstr>PowerPoint Presentation</vt:lpstr>
      <vt:lpstr>Challenges &amp; Solutions</vt:lpstr>
      <vt:lpstr>Conclusion &amp; Next Steps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Yadav</dc:creator>
  <cp:lastModifiedBy>Kunal Yadav</cp:lastModifiedBy>
  <cp:revision>4</cp:revision>
  <dcterms:created xsi:type="dcterms:W3CDTF">2025-11-09T06:13:56Z</dcterms:created>
  <dcterms:modified xsi:type="dcterms:W3CDTF">2025-11-21T14:16:05Z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